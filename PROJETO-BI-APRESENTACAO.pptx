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2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0"/>
            <a:ext cx="777240" cy="777240"/>
          </a:xfrm>
          <a:prstGeom prst="rect">
            <a:avLst/>
          </a:prstGeom>
          <a:solidFill>
            <a:srgbClr val="2A1A0C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19072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  <a:latin typeface="Montserrat"/>
              </a:rPr>
              <a:t>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6420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Montserrat"/>
              </a:rPr>
              <a:t>GESTÃO EM MOVIMENTO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21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Montserrat"/>
              </a:rPr>
              <a:t>Plataforma de Business Intelligence — Fortes Indicadores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542032"/>
            <a:ext cx="73152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651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Montserrat"/>
              </a:rPr>
              <a:t>Referência Técnica Completa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3291840"/>
            <a:ext cx="1463040" cy="274320"/>
          </a:xfrm>
          <a:prstGeom prst="rect">
            <a:avLst/>
          </a:prstGeom>
          <a:solidFill>
            <a:srgbClr val="1A2335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33192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5 painéis ativos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3291840"/>
            <a:ext cx="1463040" cy="274320"/>
          </a:xfrm>
          <a:prstGeom prst="rect">
            <a:avLst/>
          </a:prstGeom>
          <a:solidFill>
            <a:srgbClr val="1A2335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33192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Google Sheets + Supabase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3291840"/>
            <a:ext cx="1463040" cy="274320"/>
          </a:xfrm>
          <a:prstGeom prst="rect">
            <a:avLst/>
          </a:prstGeom>
          <a:solidFill>
            <a:srgbClr val="1A2335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33192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Chart.js 4.4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291840"/>
            <a:ext cx="1463040" cy="274320"/>
          </a:xfrm>
          <a:prstGeom prst="rect">
            <a:avLst/>
          </a:prstGeom>
          <a:solidFill>
            <a:srgbClr val="1A2335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33192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HTML puro — sem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Montserrat"/>
              </a:rPr>
              <a:t>fortesindicadores-byte.github.io/gestao-em-movimento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ARQUITETURA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Como o sistema funciona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00" cy="36576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36576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Montserrat"/>
              </a:rPr>
              <a:t>DADOS
(Google Sheets)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Montserrat"/>
              </a:rPr>
              <a:t>Planilha compartilhada
Estrutura: nv3, mês, valor
Acesso: GVIZ API (público)
Sem backend necessário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097280"/>
            <a:ext cx="3657600" cy="36576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097280"/>
            <a:ext cx="36576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234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Montserrat"/>
              </a:rPr>
              <a:t>PAINÉIS
(GitHub Pages)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74519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Montserrat"/>
              </a:rPr>
              <a:t>HTML + CSS + JS puro
Chart.js 4.4 + Datalabels
Autocontido (1 arquivo)
GitHub Pages — CDN global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097280"/>
            <a:ext cx="3657600" cy="36576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097280"/>
            <a:ext cx="3657600" cy="64008"/>
          </a:xfrm>
          <a:prstGeom prst="rect">
            <a:avLst/>
          </a:prstGeom>
          <a:solidFill>
            <a:srgbClr val="3BB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234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B33B"/>
                </a:solidFill>
                <a:latin typeface="Montserrat"/>
              </a:rPr>
              <a:t>ACESSO
(Supabase Auth)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874519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Montserrat"/>
              </a:rPr>
              <a:t>Login / Cadastro
Aprovação manual
Token refresh ~55 min
Fix: flag isApproved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41648" y="2743200"/>
            <a:ext cx="54864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99248" y="2743200"/>
            <a:ext cx="54864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0749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666"/>
                </a:solidFill>
                <a:latin typeface="Montserrat"/>
              </a:rPr>
              <a:t>⚠  git push origin main → 503 (proxy antigo)  |  Sempre usar MCP para publicar no 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PAINÉIS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Painéis ativos e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3657600" cy="22860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36576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097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B33B"/>
                </a:solidFill>
                <a:latin typeface="Montserrat"/>
              </a:rPr>
              <a:t>● 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3533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Visão Financeira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7830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DRE Consolidado por conta × mês
Filtros: Ano, Mês, Conta, Projeto, Unidade
Gráficos: linha (Real/Rem/Orc), barra mensal
Tabela: DRE full com totais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005840"/>
            <a:ext cx="3657600" cy="22860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005840"/>
            <a:ext cx="36576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097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B33B"/>
                </a:solidFill>
                <a:latin typeface="Montserrat"/>
              </a:rPr>
              <a:t>● 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3533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Painel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7830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KM realizado × remunerado × orçado
Filtros: Ano, Mês, Projeto
Gráficos: linha, Dispersão KM %, Δ% barras
Hero: 52px, cards 5 colunas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005840"/>
            <a:ext cx="3657600" cy="22860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005840"/>
            <a:ext cx="36576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1097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B33B"/>
                </a:solidFill>
                <a:latin typeface="Montserrat"/>
              </a:rPr>
              <a:t>● 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13533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R$/KM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7830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Custo por km por projeto
Filtros: Ano, Mês, Projeto
Tabela: impacto descrescente por desvio
Gráfico: Δ% horizontal + linha tendência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66160"/>
            <a:ext cx="3657600" cy="22860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66160"/>
            <a:ext cx="3657600" cy="54864"/>
          </a:xfrm>
          <a:prstGeom prst="rect">
            <a:avLst/>
          </a:prstGeom>
          <a:solidFill>
            <a:srgbClr val="3BB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36576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B33B"/>
                </a:solidFill>
                <a:latin typeface="Montserrat"/>
              </a:rPr>
              <a:t>● 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39136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B33B"/>
                </a:solidFill>
                <a:latin typeface="Montserrat"/>
              </a:rPr>
              <a:t>Árvore Combustível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343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Consumo por projeto/tipo combustível
Filtros: Ano, Mês, Projeto, Tipo
Gráfico: barras agrupadas (litros + R$)
Nested: /combustivel/arvore-combustivel/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566160"/>
            <a:ext cx="3657600" cy="22860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566160"/>
            <a:ext cx="3657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6576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B33B"/>
                </a:solidFill>
                <a:latin typeface="Montserrat"/>
              </a:rPr>
              <a:t>● ATIVO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39136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Montserrat"/>
              </a:rPr>
              <a:t>Financeiro Pessoal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343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Controle Renan &amp; Tati
Acesso direto (não aparece no hub)
URL: /financeiro-pessoal/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3566160"/>
            <a:ext cx="3657600" cy="22860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9" y="3566160"/>
            <a:ext cx="36576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7" y="36576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Montserrat"/>
              </a:rPr>
              <a:t>● EM BREVE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39136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Montserrat"/>
              </a:rPr>
              <a:t>Eficiência Km/L
Preço R$/L
Consumo CO²
+ 7 outros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7" y="4343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Pastas vazias (.gitkeep)
A criar conforme demanda
Seguir padrão visao-financeira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DESIGN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Paleta de cores e tipografia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2606040" cy="438912"/>
          </a:xfrm>
          <a:prstGeom prst="rect">
            <a:avLst/>
          </a:prstGeom>
          <a:solidFill>
            <a:srgbClr val="0C1017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--bg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1338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Montserrat"/>
              </a:rPr>
              <a:t>#0C1017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51560"/>
            <a:ext cx="2606040" cy="438912"/>
          </a:xfrm>
          <a:prstGeom prst="rect">
            <a:avLst/>
          </a:prstGeom>
          <a:solidFill>
            <a:srgbClr val="141B26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0972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--card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1338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Montserrat"/>
              </a:rPr>
              <a:t>#141B26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563624"/>
            <a:ext cx="260604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60934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--card2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Montserrat"/>
              </a:rPr>
              <a:t>#1A2335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563624"/>
            <a:ext cx="2606040" cy="438912"/>
          </a:xfrm>
          <a:prstGeom prst="rect">
            <a:avLst/>
          </a:prstGeom>
          <a:solidFill>
            <a:srgbClr val="1E2D40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60934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--border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Montserrat"/>
              </a:rPr>
              <a:t>#1E2D40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075688"/>
            <a:ext cx="2606040" cy="438912"/>
          </a:xfrm>
          <a:prstGeom prst="rect">
            <a:avLst/>
          </a:prstGeom>
          <a:solidFill>
            <a:srgbClr val="F97316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1214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ontserrat"/>
              </a:rPr>
              <a:t>--orange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21579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Montserrat"/>
              </a:rPr>
              <a:t>#F97316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075688"/>
            <a:ext cx="2606040" cy="438912"/>
          </a:xfrm>
          <a:prstGeom prst="rect">
            <a:avLst/>
          </a:prstGeom>
          <a:solidFill>
            <a:srgbClr val="38BDF8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1214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017"/>
                </a:solidFill>
                <a:latin typeface="Montserrat"/>
              </a:rPr>
              <a:t>--blue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1579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C1017"/>
                </a:solidFill>
                <a:latin typeface="Montserrat"/>
              </a:rPr>
              <a:t>#38BDF8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587752"/>
            <a:ext cx="260604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63347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017"/>
                </a:solidFill>
                <a:latin typeface="Montserrat"/>
              </a:rPr>
              <a:t>--text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C1017"/>
                </a:solidFill>
                <a:latin typeface="Montserrat"/>
              </a:rPr>
              <a:t>#F1F5F9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587752"/>
            <a:ext cx="2606040" cy="438912"/>
          </a:xfrm>
          <a:prstGeom prst="rect">
            <a:avLst/>
          </a:prstGeom>
          <a:solidFill>
            <a:srgbClr val="94A3B8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263347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017"/>
                </a:solidFill>
                <a:latin typeface="Montserrat"/>
              </a:rPr>
              <a:t>--text2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C1017"/>
                </a:solidFill>
                <a:latin typeface="Montserrat"/>
              </a:rPr>
              <a:t>#94A3B8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099816"/>
            <a:ext cx="2606040" cy="438912"/>
          </a:xfrm>
          <a:prstGeom prst="rect">
            <a:avLst/>
          </a:prstGeom>
          <a:solidFill>
            <a:srgbClr val="475569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1455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ontserrat"/>
              </a:rPr>
              <a:t>--text3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3182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Montserrat"/>
              </a:rPr>
              <a:t>#475569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099816"/>
            <a:ext cx="2606040" cy="438912"/>
          </a:xfrm>
          <a:prstGeom prst="rect">
            <a:avLst/>
          </a:prstGeom>
          <a:solidFill>
            <a:srgbClr val="3BB33B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31455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ontserrat"/>
              </a:rPr>
              <a:t>--green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182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Montserrat"/>
              </a:rPr>
              <a:t>#3BB33B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611880"/>
            <a:ext cx="2606040" cy="438912"/>
          </a:xfrm>
          <a:prstGeom prst="rect">
            <a:avLst/>
          </a:prstGeom>
          <a:solidFill>
            <a:srgbClr val="FF6666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657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ontserrat"/>
              </a:rPr>
              <a:t>--red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3694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Montserrat"/>
              </a:rPr>
              <a:t>#FF6666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TIPOGRAFIA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1261872"/>
            <a:ext cx="54864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1371600"/>
            <a:ext cx="548640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Hero value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1463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Montserrat"/>
              </a:rPr>
              <a:t>52px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1463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800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1828800"/>
            <a:ext cx="5486400" cy="420624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Título seção/tabela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Montserrat"/>
              </a:rPr>
              <a:t>16px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800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286000"/>
            <a:ext cx="548640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Título de card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2377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Montserrat"/>
              </a:rPr>
              <a:t>15px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0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800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2743200"/>
            <a:ext cx="5486400" cy="420624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Card value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Montserrat"/>
              </a:rPr>
              <a:t>24px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2834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800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3200400"/>
            <a:ext cx="548640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Card label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Montserrat"/>
              </a:rPr>
              <a:t>10px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3291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600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3657600"/>
            <a:ext cx="5486400" cy="420624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Dados da tabela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37490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Montserrat"/>
              </a:rPr>
              <a:t>12-13px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400-500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4114800"/>
            <a:ext cx="548640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Cabeçalho coluna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4206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Montserrat"/>
              </a:rPr>
              <a:t>11px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4206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700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4572000"/>
            <a:ext cx="5486400" cy="420624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Row total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544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Montserrat"/>
              </a:rPr>
              <a:t>12-13px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24160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700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5029200"/>
            <a:ext cx="548640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Badges / hints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Montserrat"/>
              </a:rPr>
              <a:t>9-10px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2416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Montserrat"/>
              </a:rPr>
              <a:t>400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5577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  <a:latin typeface="Montserrat"/>
              </a:rPr>
              <a:t>Fonte: Montserrat (Google Fonts) — pesos 400/500/600/700/800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Google Sheets como fonte de 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5486400" cy="22860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GVIZ API — Endpoint público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const SHEET_ID  = '&lt;id-planilha&gt;';
const SHEET_TAB = '&lt;aba&gt;';
const URL = `https://docs.google.com/spreadsheets/d/
  ${SHEET_ID}/gviz/tq?tqx=out:json&amp;sheet=${encodeURIComponent(SHEET_TAB)}`;
// Busca:
const text = await (await fetch(URL)).text();
const json = JSON.parse(text.match(/setResponse\(([\s\S]*)\)/)[1]);
const rows = json.table.rows;  // rows[i].c[j].v = valor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429000"/>
            <a:ext cx="5486400" cy="256032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93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Padrão de campo nv3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Montserrat"/>
              </a:rPr>
              <a:t>"PROJETO - UNIDADE (INATIVO)"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• "LOGÍSTICA - BLC (INATIVO)"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B33B"/>
                </a:solidFill>
                <a:latin typeface="Montserrat"/>
              </a:rPr>
              <a:t>→ label: "BLC" (strip INATIVO)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• "TRANSPORTE - SP1"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617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B33B"/>
                </a:solidFill>
                <a:latin typeface="Montserrat"/>
              </a:rPr>
              <a:t>→ label: "SP1"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83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• "FROTA - CAB"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983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B33B"/>
                </a:solidFill>
                <a:latin typeface="Montserrat"/>
              </a:rPr>
              <a:t>→ label: "CAB"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  <a:latin typeface="Montserrat"/>
              </a:rPr>
              <a:t>getNv3Prefix(v) → tudo antes de '-'  |  getUniLabel(v) → tudo após '-', sem (INATIVO)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05840"/>
            <a:ext cx="5669280" cy="498348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0789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Planilhas por painel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463040"/>
            <a:ext cx="5669280" cy="50292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Montserrat"/>
              </a:rPr>
              <a:t>Visão Financeira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554480"/>
            <a:ext cx="2286000" cy="292608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15819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DRE Consolidado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011680"/>
            <a:ext cx="5669280" cy="50292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Montserrat"/>
              </a:rPr>
              <a:t>Painel KM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2103120"/>
            <a:ext cx="2286000" cy="292608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213055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KM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560320"/>
            <a:ext cx="5669280" cy="50292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Montserrat"/>
              </a:rPr>
              <a:t>R$/KM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2651760"/>
            <a:ext cx="2286000" cy="292608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32" y="267919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RS por KM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108960"/>
            <a:ext cx="5669280" cy="50292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Montserrat"/>
              </a:rPr>
              <a:t>Árvore Combustível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3200400"/>
            <a:ext cx="2286000" cy="292608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322783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Combustivel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657600"/>
            <a:ext cx="5669280" cy="50292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7490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Montserrat"/>
              </a:rPr>
              <a:t>Financeiro Pessoal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749039"/>
            <a:ext cx="2286000" cy="292608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00032" y="377647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aba própria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4805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6666"/>
                </a:solidFill>
                <a:latin typeface="Montserrat"/>
              </a:rPr>
              <a:t>⚠  Planilha deve ser pública (Compartilhar → Qualquer pessoa com o link → Leitor)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029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  <a:latin typeface="Montserrat"/>
              </a:rPr>
              <a:t>rows[i].c[j].v = valor bruto  |  rows[i].c[j].f = valor formatado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FILTROS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Sistema de filtros multi-select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5029200" cy="50292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Estrutura de filtro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1828800" cy="384048"/>
          </a:xfrm>
          <a:prstGeom prst="rect">
            <a:avLst/>
          </a:prstGeom>
          <a:solidFill>
            <a:srgbClr val="0A0F18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270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Montserrat"/>
              </a:rPr>
              <a:t>ANO  [2]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517904"/>
            <a:ext cx="27432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52704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1017"/>
                </a:solidFill>
                <a:latin typeface="Montserrat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74519"/>
            <a:ext cx="2286000" cy="1645920"/>
          </a:xfrm>
          <a:prstGeom prst="rect">
            <a:avLst/>
          </a:prstGeom>
          <a:solidFill>
            <a:srgbClr val="0F1824"/>
          </a:solidFill>
          <a:ln w="9525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1920240"/>
            <a:ext cx="2286000" cy="34747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9751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Montserrat"/>
              </a:rPr>
              <a:t>☑ Todos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286000"/>
            <a:ext cx="2286000" cy="347472"/>
          </a:xfrm>
          <a:prstGeom prst="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3408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☑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651760"/>
            <a:ext cx="2286000" cy="347472"/>
          </a:xfrm>
          <a:prstGeom prst="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2706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☑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017520"/>
            <a:ext cx="2286000" cy="347472"/>
          </a:xfrm>
          <a:prstGeom prst="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0723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ontserrat"/>
              </a:rPr>
              <a:t>☐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6576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• Checkbox 'Todos' sincroniza todos
• Badge mostra qtd selecionada
• Clique fora fecha dropdown
• Múltiplos filtros simultâneos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005840"/>
            <a:ext cx="6126480" cy="50292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07899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Filtros por painel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5087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Montserrat"/>
              </a:rPr>
              <a:t>Visão Financeira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182880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1856231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Ano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182880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1856231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Mês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182880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1856231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Conta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182880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1856231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Projeto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8440" y="182880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51592" y="1856231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Unidade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167128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  <a:latin typeface="Montserrat"/>
              </a:rPr>
              <a:t>Mobile: 3 por linha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25146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Montserrat"/>
              </a:rPr>
              <a:t>Painel KM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283464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9592" y="286207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Ano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283464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2592" y="286207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Mês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283464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5592" y="286207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Projeto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172968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  <a:latin typeface="Montserrat"/>
              </a:rPr>
              <a:t>Mobile: 2 por linha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5204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Montserrat"/>
              </a:rPr>
              <a:t>R$/KM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384048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9592" y="386791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Ano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384048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22592" y="386791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Mês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384048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65592" y="386791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Projeto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4178808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  <a:latin typeface="Montserrat"/>
              </a:rPr>
              <a:t>Mobile: 2 por linha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45262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Montserrat"/>
              </a:rPr>
              <a:t>Árvore Combustível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06440" y="484632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79592" y="487375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Ano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9440" y="484632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22592" y="487375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Mês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92440" y="484632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65592" y="487375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Projeto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4846320"/>
            <a:ext cx="1051560" cy="256032"/>
          </a:xfrm>
          <a:prstGeom prst="rect">
            <a:avLst/>
          </a:prstGeom>
          <a:solidFill>
            <a:srgbClr val="0A0F18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08592" y="4873752"/>
            <a:ext cx="9601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8BDF8"/>
                </a:solidFill>
                <a:latin typeface="Montserrat"/>
              </a:rPr>
              <a:t>Tipo Combustível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6440" y="5184648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  <a:latin typeface="Montserrat"/>
              </a:rPr>
              <a:t>Mobile: 2 por linha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GRÁFICOS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Tipos de gráficos — Chart.js 4.4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5394960" cy="169164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53949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1155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Montserrat"/>
              </a:rPr>
              <a:t>Linha — Evolução Mensal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4630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Datasets: Realizado (laranja sólido, bw=3)
Remunerado (azul tracejado [5,3], bw=2)
Orçado (branco/cinza tracejado, bw=2)
Pontos destacados: mês selecionado = radius 6, branco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394960" cy="169164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3949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1155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Montserrat"/>
              </a:rPr>
              <a:t>Barras Verticais — Dispersão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4630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Orientação: indexAxis padrão (vertical)
Cores: laranja (positivo) / vermelho (negativo)
Datalabels: ±X.X% com 1 decimal
Usado em: Painel KM — Dispersão de KM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34640"/>
            <a:ext cx="5394960" cy="169164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34640"/>
            <a:ext cx="5394960" cy="54864"/>
          </a:xfrm>
          <a:prstGeom prst="rect">
            <a:avLst/>
          </a:prstGeom>
          <a:solidFill>
            <a:srgbClr val="3BB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9443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B33B"/>
                </a:solidFill>
                <a:latin typeface="Montserrat"/>
              </a:rPr>
              <a:t>Barras Horizontais — Δ% Projetos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32918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indexAxis: 'y'
Cores: laranja (positivo) / vermelho (negativo)
Datalabels: anchor end/start conforme sinal
Formatter: Math.round (inteiro) — sem decimal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834640"/>
            <a:ext cx="5394960" cy="169164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34640"/>
            <a:ext cx="53949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9443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Montserrat"/>
              </a:rPr>
              <a:t>Barras Agrupadas — Combustível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2918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Grupos por tipo (diesel/arla/gasolina)
Datalabels duplos: litros + R$
Nested: /combustivel/arvore-combustivel/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54880"/>
            <a:ext cx="11338560" cy="169164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754880"/>
            <a:ext cx="11338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86460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Montserrat"/>
              </a:rPr>
              <a:t>Cards Sparkline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5212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Mini linha dentro de card KPI
Sem eixos, sem legend, sem tooltip
tension: 0.3, pointRadius: 0
Apenas tendência visual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TABELAS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Tipos e padrões de tabelas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5669280" cy="384048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Montserrat"/>
              </a:rPr>
              <a:t>DRE Consolidado (Visão Financeira)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669280" cy="347472"/>
          </a:xfrm>
          <a:prstGeom prst="rect">
            <a:avLst/>
          </a:prstGeom>
          <a:solidFill>
            <a:srgbClr val="0A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CONTA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463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463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FEV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79" y="1463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1463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463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828800"/>
            <a:ext cx="566928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920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B33B"/>
                </a:solidFill>
                <a:latin typeface="Montserrat"/>
              </a:rPr>
              <a:t>Receita Bruta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1920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850k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920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920k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1920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880k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20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920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10.2 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67712"/>
            <a:ext cx="5669280" cy="420624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59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6666"/>
                </a:solidFill>
                <a:latin typeface="Montserrat"/>
              </a:rPr>
              <a:t>Deduções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3591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-45k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23591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-52k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23591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-48k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23591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3591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-580k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706624"/>
            <a:ext cx="566928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7980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Receita Líquida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27980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Montserrat"/>
              </a:rPr>
              <a:t>805k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7980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Montserrat"/>
              </a:rPr>
              <a:t>868k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39" y="27980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Montserrat"/>
              </a:rPr>
              <a:t>832k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27980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Montserrat"/>
              </a:rPr>
              <a:t>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27980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Montserrat"/>
              </a:rPr>
              <a:t>9.6 mi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145536"/>
            <a:ext cx="5669280" cy="420624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236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6666"/>
                </a:solidFill>
                <a:latin typeface="Montserrat"/>
              </a:rPr>
              <a:t>Custos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32369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-620k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32369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-680k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39" y="32369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-650k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32369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2369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-7.8 mi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584448"/>
            <a:ext cx="566928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67588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7316"/>
                </a:solidFill>
                <a:latin typeface="Montserrat"/>
              </a:rPr>
              <a:t>EBITDA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367588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97316"/>
                </a:solidFill>
                <a:latin typeface="Montserrat"/>
              </a:rPr>
              <a:t>185k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60" y="367588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97316"/>
                </a:solidFill>
                <a:latin typeface="Montserrat"/>
              </a:rPr>
              <a:t>188k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39" y="367588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97316"/>
                </a:solidFill>
                <a:latin typeface="Montserrat"/>
              </a:rPr>
              <a:t>182k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367588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97316"/>
                </a:solidFill>
                <a:latin typeface="Montserrat"/>
              </a:rPr>
              <a:t>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367588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97316"/>
                </a:solidFill>
                <a:latin typeface="Montserrat"/>
              </a:rPr>
              <a:t>1.8 mi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069080"/>
            <a:ext cx="5669280" cy="41148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4133087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TOTAL  →  13.6 mi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5720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Montserrat"/>
              </a:rPr>
              <a:t>• Fonte: 12–13px  • Hover: rgba(255,255,255,.035)
• Total: border-top 2px, font-weight 700
• Colunas numéricas: text-align right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1005840"/>
            <a:ext cx="5577840" cy="384048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10698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Montserrat"/>
              </a:rPr>
              <a:t>Impacto R$/KM (R$/KM)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1417320"/>
            <a:ext cx="5577840" cy="347472"/>
          </a:xfrm>
          <a:prstGeom prst="rect">
            <a:avLst/>
          </a:prstGeom>
          <a:solidFill>
            <a:srgbClr val="0A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14630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PROJETO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9480" y="14630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REAL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14630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REM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14630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60" y="14630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Δ%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61320" y="14630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75569"/>
                </a:solidFill>
                <a:latin typeface="Montserrat"/>
              </a:rPr>
              <a:t>IMPACTO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1828800"/>
            <a:ext cx="557784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19202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LOGÍSTICA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19202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Montserrat"/>
              </a:rPr>
              <a:t>2.45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2440" y="19202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Montserrat"/>
              </a:rPr>
              <a:t>2.20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15400" y="19202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+0.25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38360" y="19202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+11.4%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19202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+18.2k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2267712"/>
            <a:ext cx="5577840" cy="420624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46520" y="23591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TRANSPORTE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69480" y="23591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Montserrat"/>
              </a:rPr>
              <a:t>3.10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2440" y="23591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Montserrat"/>
              </a:rPr>
              <a:t>2.95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15400" y="23591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+0.15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38360" y="23591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+5.1%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61320" y="23591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666"/>
                </a:solidFill>
                <a:latin typeface="Montserrat"/>
              </a:rPr>
              <a:t>+9.8k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2706624"/>
            <a:ext cx="5577840" cy="420624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46520" y="27980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FROTA LEVE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69480" y="27980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Montserrat"/>
              </a:rPr>
              <a:t>1.85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92440" y="27980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Montserrat"/>
              </a:rPr>
              <a:t>1.90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15400" y="27980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-0.05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38360" y="27980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-2.6%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61320" y="27980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-3.1k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3145536"/>
            <a:ext cx="5577840" cy="420624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46520" y="32369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AGREGADOS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69480" y="32369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Montserrat"/>
              </a:rPr>
              <a:t>4.20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2440" y="32369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Montserrat"/>
              </a:rPr>
              <a:t>4.35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15400" y="32369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-0.15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38360" y="32369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-3.4%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61320" y="32369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B33B"/>
                </a:solidFill>
                <a:latin typeface="Montserrat"/>
              </a:rPr>
              <a:t>-5.9k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46520" y="45720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Montserrat"/>
              </a:rPr>
              <a:t>• Ordenado por |impacto| decrescente
• .imp-cell: font-size 13px
• Vermelho = custo &gt; remunerado (ruim)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AUTH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Autenticação Supabase +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2606040" cy="1280160"/>
          </a:xfrm>
          <a:prstGeom prst="rect">
            <a:avLst/>
          </a:prstGeom>
          <a:solidFill>
            <a:srgbClr val="141B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0972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Login
signInWithPassword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05840"/>
            <a:ext cx="2606040" cy="1280160"/>
          </a:xfrm>
          <a:prstGeom prst="rect">
            <a:avLst/>
          </a:prstGeom>
          <a:solidFill>
            <a:srgbClr val="14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0972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Montserrat"/>
              </a:rPr>
              <a:t>Cadastro
signUp → e-mail confirm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2606040" cy="1280160"/>
          </a:xfrm>
          <a:prstGeom prst="rect">
            <a:avLst/>
          </a:prstGeom>
          <a:solidFill>
            <a:srgbClr val="141B2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0972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Esqueci Senha
resetPasswordForEmail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005840"/>
            <a:ext cx="2606040" cy="1280160"/>
          </a:xfrm>
          <a:prstGeom prst="rect">
            <a:avLst/>
          </a:prstGeom>
          <a:solidFill>
            <a:srgbClr val="141B26"/>
          </a:solidFill>
          <a:ln w="12700">
            <a:solidFill>
              <a:srgbClr val="3BB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10972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B33B"/>
                </a:solidFill>
                <a:latin typeface="Montserrat"/>
              </a:rPr>
              <a:t>Redefinir
updateUser({password})
evento PASSWORD_RECOVERY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514600"/>
            <a:ext cx="11338560" cy="1463040"/>
          </a:xfrm>
          <a:prstGeom prst="rect">
            <a:avLst/>
          </a:prstGeom>
          <a:solidFill>
            <a:srgbClr val="1A1008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78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Montserrat"/>
              </a:rPr>
              <a:t>🔧 FIX CRÍTICO: Crash do hub — Supabase dispara SIGNED_IN a cada ~55 min (refresh de token)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let isApproved = false;           // flag global
function showHub(user) { isApproved = true; ... }      // setar true ao entrar
function showAuth()    { isApproved = false; ... }     // setar false ao sair
// onAuthStateChange:
if (event==='SIGNED_IN' &amp;&amp; session &amp;&amp; !isRegistering &amp;&amp; !isApproved) await checkApproval(session.user);
// catch em checkApproval:
if (!isApproved) showAuth();      // só expulsa se não estava no hub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160520"/>
            <a:ext cx="5303520" cy="237744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24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Telas do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17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Montserrat"/>
              </a:rPr>
              <a:t>• Auth Screen (#auth-screen)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873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Login / Cadastro / Esqueci / Redefinir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120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Montserrat"/>
              </a:rPr>
              <a:t>• Pending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468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Aguardando aprovação na tabela approved_users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806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Montserrat"/>
              </a:rPr>
              <a:t>• Hub Screen (#hub-screen)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062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Grid de cards por cluster (após aprovação)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160520"/>
            <a:ext cx="5852160" cy="237744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42245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Config Supabase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Site URL: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617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1F5F9"/>
                </a:solidFill>
                <a:latin typeface="Montserrat"/>
              </a:rPr>
              <a:t>https://fortesindicadores-byte.github.io/gestao-em-movimento/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SMTP: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1206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1F5F9"/>
                </a:solidFill>
                <a:latin typeface="Montserrat"/>
              </a:rPr>
              <a:t>Resend — smtp.resend.com:465, user=resend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E-mail conf: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6235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1F5F9"/>
                </a:solidFill>
                <a:latin typeface="Montserrat"/>
              </a:rPr>
              <a:t>Ativado (obrigatório confirmar para logar)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6126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Tabela DB: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1264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1F5F9"/>
                </a:solidFill>
                <a:latin typeface="Montserrat"/>
              </a:rPr>
              <a:t>approved_users — email column — acesso manual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GIT /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Como publicar mudanças — Push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38560" cy="502920"/>
          </a:xfrm>
          <a:prstGeom prst="rect">
            <a:avLst/>
          </a:prstGeom>
          <a:solidFill>
            <a:srgbClr val="2A0C0C"/>
          </a:solidFill>
          <a:ln w="1270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666"/>
                </a:solidFill>
                <a:latin typeface="Montserrat"/>
              </a:rPr>
              <a:t>⚠  git push origin main → 503  |  Repositório renomeado (Projeto-BI-App → gestao-em-movimento). Proxy local desatualizado.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749039" cy="2286000"/>
          </a:xfrm>
          <a:prstGeom prst="rect">
            <a:avLst/>
          </a:prstGeom>
          <a:solidFill>
            <a:srgbClr val="141B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" y="1709928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099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37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Montserrat"/>
              </a:rPr>
              <a:t>Editar arquivo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Edit tool no Claude Code
Ex: visao-financeira/index.html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3749039" cy="2286000"/>
          </a:xfrm>
          <a:prstGeom prst="rect">
            <a:avLst/>
          </a:prstGeom>
          <a:solidFill>
            <a:srgbClr val="14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53128" y="1709928"/>
            <a:ext cx="32004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7099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737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Montserrat"/>
              </a:rPr>
              <a:t>Commit no dev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0312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git add &lt;arquivo&gt;
git commit -m 'descrição'
git push -u origin claude/great-allen-OVObS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600200"/>
            <a:ext cx="3749039" cy="2286000"/>
          </a:xfrm>
          <a:prstGeom prst="rect">
            <a:avLst/>
          </a:prstGeom>
          <a:solidFill>
            <a:srgbClr val="141B26"/>
          </a:solidFill>
          <a:ln w="12700">
            <a:solidFill>
              <a:srgbClr val="3BB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5047" y="1709928"/>
            <a:ext cx="320040" cy="320040"/>
          </a:xfrm>
          <a:prstGeom prst="rect">
            <a:avLst/>
          </a:prstGeom>
          <a:solidFill>
            <a:srgbClr val="3BB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7" y="17099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1737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B33B"/>
                </a:solidFill>
                <a:latin typeface="Montserrat"/>
              </a:rPr>
              <a:t>Buscar SHA do arquivo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10312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mcp__github__get_file_contents
  owner: fortesindicadores-byte
  repo: gestao-em-movimento
  path: &lt;caminho&gt;
→ retorna .sha atual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069080"/>
            <a:ext cx="5303520" cy="2286000"/>
          </a:xfrm>
          <a:prstGeom prst="rect">
            <a:avLst/>
          </a:prstGeom>
          <a:solidFill>
            <a:srgbClr val="141B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208" y="4178808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178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06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Montserrat"/>
              </a:rPr>
              <a:t>Push para main via MCP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mcp__github__create_or_update_file
  owner, repo, path, message
  content: &lt;conteúdo do arquivo&gt;
  sha: &lt;sha do passo 3&gt;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069080"/>
            <a:ext cx="5303520" cy="2286000"/>
          </a:xfrm>
          <a:prstGeom prst="rect">
            <a:avLst/>
          </a:prstGeom>
          <a:solidFill>
            <a:srgbClr val="14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1928" y="4178808"/>
            <a:ext cx="32004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178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06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Montserrat"/>
              </a:rPr>
              <a:t>Sincronizar local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57200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git fetch origin main
git checkout origin/main -- &lt;arquivo&gt;
git add &amp;&amp; git commit &amp;&amp; git push dev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400800"/>
            <a:ext cx="11338560" cy="34747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648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  <a:latin typeface="Montserrat"/>
              </a:rPr>
              <a:t>Se MCP pedir autenticação: mcp__github__authenticate → URL → usuário autoriza → copiar URL callback → mcp__github__complete_authentication(callback_url)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FORMATAÇÃO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Formatação de números e percentuais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11338560" cy="320040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Funções de formatação (padrão visao-financeira + painel-km)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Montserrat"/>
              </a:rPr>
              <a:t>const numFmt = v =&gt; {
  const a = Math.abs(v), s = v &lt; 0 ? '-' : '';
  if (a &gt;= 1e9) return s + (a/1e9).toFixed(2) + ' bi';  // ex: 1.23 bi
  if (a &gt;= 1e6) return s + (a/1e6).toFixed(2) + ' mi';  // ex: 5.70 mi
  if (a &gt;= 1e5) return s + (a/1e3).toFixed(2) + 'k';    // ex: 320.50k
  return s + Math.round(a).toLocaleString('pt-BR');      // ex: 82.450
};
const fmt    = v =&gt; numFmt(v);
const pctInt = v =&gt; (v &gt;= 0 ? '+' : '') + v.toFixed(1) + '%';   // +11.4% ou -3.2%
const pctR   = (a, b) =&gt; b ? ((a/b - 1)*100).toFixed(1) + '%' : '—';  // ratio %
const pp     = v =&gt; v.toFixed(2) + ' pp';                        // pontos percentuais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389120"/>
            <a:ext cx="11338560" cy="214884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Exemplos de saída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73168"/>
            <a:ext cx="2606040" cy="41148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371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Montserrat"/>
              </a:rPr>
              <a:t>numFmt(v)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8463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837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7316"/>
                </a:solidFill>
                <a:latin typeface="Montserrat"/>
              </a:rPr>
              <a:t>1.23 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4773168"/>
            <a:ext cx="2606040" cy="41148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48371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Montserrat"/>
              </a:rPr>
              <a:t>numFmt(v)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48463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837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7316"/>
                </a:solidFill>
                <a:latin typeface="Montserrat"/>
              </a:rPr>
              <a:t>5.70 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773168"/>
            <a:ext cx="2606040" cy="41148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48371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Montserrat"/>
              </a:rPr>
              <a:t>numFmt(v)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48463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837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7316"/>
                </a:solidFill>
                <a:latin typeface="Montserrat"/>
              </a:rPr>
              <a:t>320.50k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4773168"/>
            <a:ext cx="2606040" cy="41148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48371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Montserrat"/>
              </a:rPr>
              <a:t>numFmt(v)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48463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837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7316"/>
                </a:solidFill>
                <a:latin typeface="Montserrat"/>
              </a:rPr>
              <a:t>82.450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230368"/>
            <a:ext cx="2606040" cy="411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94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Montserrat"/>
              </a:rPr>
              <a:t>pctInt(v)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3035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2943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7316"/>
                </a:solidFill>
                <a:latin typeface="Montserrat"/>
              </a:rPr>
              <a:t>+11.4%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5230368"/>
            <a:ext cx="2606040" cy="411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5294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Montserrat"/>
              </a:rPr>
              <a:t>pctInt(v)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53035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52943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7316"/>
                </a:solidFill>
                <a:latin typeface="Montserrat"/>
              </a:rPr>
              <a:t>-3.2%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5230368"/>
            <a:ext cx="2606040" cy="411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59" y="5294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Montserrat"/>
              </a:rPr>
              <a:t>pctR(a,b)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79" y="53035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2943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7316"/>
                </a:solidFill>
                <a:latin typeface="Montserrat"/>
              </a:rPr>
              <a:t>+6.5%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5230368"/>
            <a:ext cx="2606040" cy="411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60" y="5294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Montserrat"/>
              </a:rPr>
              <a:t>pp(v)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3035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ontserrat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52943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7316"/>
                </a:solidFill>
                <a:latin typeface="Montserrat"/>
              </a:rPr>
              <a:t>2.35 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MODO CLARO + RESUMO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22860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Montserrat"/>
              </a:rPr>
              <a:t>Tema + próximos passos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5486400" cy="301752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Modo Claro / Escuro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447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Botão: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44475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lua/sol no header-right (theme-btn)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013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Estado: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0136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localStorage 'bi_theme' = 'dark' | 'light'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579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Header: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15798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SEMPRE escuro (não muda no modo claro)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5146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Body: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51460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body.light-mode .main { background: #F0F0F0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8712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Cards: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87121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body.light-mode .kpi-card { background: #FFF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2278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Gráficos: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22783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Regerar ao trocar tema — renderCharts(lastF)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58444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Montserrat"/>
              </a:rPr>
              <a:t>Ticks: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5844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Montserrat"/>
              </a:rPr>
              <a:t>getTick() retorna cor dinâmica por tema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005840"/>
            <a:ext cx="5669280" cy="3017520"/>
          </a:xfrm>
          <a:prstGeom prst="rect">
            <a:avLst/>
          </a:prstGeom>
          <a:solidFill>
            <a:srgbClr val="141B26"/>
          </a:solidFill>
          <a:ln w="1270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0789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666"/>
                </a:solidFill>
                <a:latin typeface="Montserrat"/>
              </a:rPr>
              <a:t>⚠ Pendentes no main (push via MCP)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50876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• index.html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75564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fix isApproved (crash hub) + pendente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01168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• visao-financeira/index.html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25856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back-btn pendente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51460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• painel-km/index.html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76148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back-btn + números 2dec + pct 1dec — pendente push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01752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• rs-por-km/index.html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26440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back-btn + font 13px — pendente push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52044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Montserrat"/>
              </a:rPr>
              <a:t>• combustivel/arvore-combustivel/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76732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Montserrat"/>
              </a:rPr>
              <a:t>back-btn — pendente push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206240"/>
            <a:ext cx="11338560" cy="2468880"/>
          </a:xfrm>
          <a:prstGeom prst="rect">
            <a:avLst/>
          </a:prstGeom>
          <a:solidFill>
            <a:srgbClr val="141B26"/>
          </a:solidFill>
          <a:ln w="9525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79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Montserrat"/>
              </a:rPr>
              <a:t>Roadmap de painéis a criar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663440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70001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Eficiência Km/L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937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/combustivel/eficiencia-kml/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80" y="4663440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470001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Preço R$/L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4937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/combustivel/preco-litro/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663440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79" y="470001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Consumo CO²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79" y="4937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/combustivel/consumo-co2/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86599" y="4663440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39" y="470001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Sub-hub Combustível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39" y="4937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/combustivel/  (quando 2+ prontos)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4663440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470001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Ativação de Frota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4937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/eficiencia-ativacao/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230368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2669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Disponibilidade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5046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/disponibilidade/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97480" y="5230368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88920" y="52669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Gerot / Auditorias / FCA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55046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/auditorias/  /fca/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92040" y="5230368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79" y="52669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Prog. Reconhecimento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83479" y="55046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pasta a criar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6599" y="5230368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39" y="52669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Aderência ao FCA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78039" y="55046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pasta a criar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81160" y="5230368"/>
            <a:ext cx="2103120" cy="502920"/>
          </a:xfrm>
          <a:prstGeom prst="rect">
            <a:avLst/>
          </a:prstGeom>
          <a:solidFill>
            <a:srgbClr val="1A2335"/>
          </a:solidFill>
          <a:ln w="635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72600" y="52669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F5F9"/>
                </a:solidFill>
                <a:latin typeface="Montserrat"/>
              </a:rPr>
              <a:t>Painel de Metas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72600" y="55046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  <a:latin typeface="Montserrat"/>
              </a:rPr>
              <a:t>/painel-metas/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