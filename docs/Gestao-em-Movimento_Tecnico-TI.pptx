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310128"/>
            <a:ext cx="2377440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64748B"/>
                </a:solidFill>
                <a:latin typeface="Montserrat"/>
              </a:rPr>
              <a:t>GESTÃO EM MOVIMENTO</a:t>
            </a:r>
          </a:p>
          <a:p>
            <a:r>
              <a:rPr sz="4200" b="1" i="0">
                <a:solidFill>
                  <a:srgbClr val="F1F5F9"/>
                </a:solidFill>
                <a:latin typeface="Montserrat"/>
              </a:rPr>
              <a:t>Documentação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204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94A3B8"/>
                </a:solidFill>
                <a:latin typeface="Montserrat"/>
              </a:rPr>
              <a:t>Handoff do portal de BI para o time de TI — arquitetura, dados, módulos e operação.</a:t>
            </a:r>
          </a:p>
          <a:p>
            <a:r>
              <a:rPr sz="1200" b="1" i="0">
                <a:solidFill>
                  <a:srgbClr val="F97316"/>
                </a:solidFill>
                <a:latin typeface="Montserrat"/>
              </a:rPr>
              <a:t>fortesindicadores-byte.github.io/gestao-em-movimento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4748B"/>
                </a:solidFill>
                <a:latin typeface="Montserrat"/>
              </a:rPr>
              <a:t>Fortes Indicadores · BI Frota (Conlog/Ambev) · junho/2026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4748B"/>
                </a:solidFill>
                <a:latin typeface="Montserrat"/>
              </a:rPr>
              <a:t>GESTÃO EM MOVIMENTO · BI FROTA</a:t>
            </a:r>
          </a:p>
          <a:p>
            <a:r>
              <a:rPr sz="2600" b="1" i="0">
                <a:solidFill>
                  <a:srgbClr val="F97316"/>
                </a:solidFill>
                <a:latin typeface="Montserrat"/>
              </a:rPr>
              <a:t>O que é o projeto</a:t>
            </a:r>
          </a:p>
          <a:p>
            <a:r>
              <a:rPr sz="1200" b="0" i="0">
                <a:solidFill>
                  <a:srgbClr val="94A3B8"/>
                </a:solidFill>
                <a:latin typeface="Montserrat"/>
              </a:rPr>
              <a:t>Portal único de BI da frota — substituiu o Looker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Repositório central de painéis de BI: fortesindicadores-byte/gestao-em-movimento (GitHub).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≈ 25 painéis publicados em https://fortesindicadores-byte.github.io/gestao-em-movimento/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1" i="0">
                <a:solidFill>
                  <a:srgbClr val="F1F5F9"/>
                </a:solidFill>
                <a:latin typeface="Montserrat"/>
              </a:rPr>
              <a:t>Cada painel é UM index.html autocontido — HTML + CSS + JS puro. Sem framework, sem build, sem backend próprio.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Hub com login (Supabase Auth) organiza os painéis por cluster: Financeiro, Operacional, Processos, Resultados…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Custo de infraestrutura ≈ zero: GitHub Pages (host) + Google Sheets (dados) + Supabase free tier (auth/BD).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Documentação no repo: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1" i="0">
                <a:solidFill>
                  <a:srgbClr val="F97316"/>
                </a:solidFill>
                <a:latin typeface="Montserrat"/>
              </a:rPr>
              <a:t>DOCUMENTACAO-TI.md — este handoff completo (leia primeiro)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CLAUDE.md — design system e convenções de código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PAINEIS.md — catálogo painel a painel · HANDOFF.md — histórico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ontserrat"/>
              </a:rPr>
              <a:t>Handoff Técnico — TI  ·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4748B"/>
                </a:solidFill>
                <a:latin typeface="Montserrat"/>
              </a:rPr>
              <a:t>GESTÃO EM MOVIMENTO · BI FROTA</a:t>
            </a:r>
          </a:p>
          <a:p>
            <a:r>
              <a:rPr sz="2600" b="1" i="0">
                <a:solidFill>
                  <a:srgbClr val="F97316"/>
                </a:solidFill>
                <a:latin typeface="Montserrat"/>
              </a:rPr>
              <a:t>Arquitetura</a:t>
            </a:r>
          </a:p>
          <a:p>
            <a:r>
              <a:rPr sz="1200" b="0" i="0">
                <a:solidFill>
                  <a:srgbClr val="94A3B8"/>
                </a:solidFill>
                <a:latin typeface="Montserrat"/>
              </a:rPr>
              <a:t>Estático no host; o navegador fala direto com as fontes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468880" cy="1371600"/>
          </a:xfrm>
          <a:prstGeom prst="roundRect">
            <a:avLst/>
          </a:prstGeom>
          <a:solidFill>
            <a:srgbClr val="141B26"/>
          </a:solidFill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38BDF8"/>
                </a:solidFill>
                <a:latin typeface="Montserrat"/>
              </a:rPr>
              <a:t>NAVEGADOR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Usuário logado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Desktop e mobile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Lê e grava direto nas fontes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54680" y="2286000"/>
            <a:ext cx="685800" cy="292608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77639" y="1737360"/>
            <a:ext cx="2834640" cy="1371600"/>
          </a:xfrm>
          <a:prstGeom prst="roundRect">
            <a:avLst/>
          </a:prstGeom>
          <a:solidFill>
            <a:srgbClr val="141B26"/>
          </a:solidFill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97316"/>
                </a:solidFill>
                <a:latin typeface="Montserrat"/>
              </a:rPr>
              <a:t>GITHUB PAGES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Host estático (repo público)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Deploy automático no push em main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1 pasta = 1 painel = 1 URL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554480"/>
            <a:ext cx="3749039" cy="1051560"/>
          </a:xfrm>
          <a:prstGeom prst="roundRect">
            <a:avLst/>
          </a:prstGeom>
          <a:solidFill>
            <a:srgbClr val="141B26"/>
          </a:solidFill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3BB33B"/>
                </a:solidFill>
                <a:latin typeface="Montserrat"/>
              </a:rPr>
              <a:t>GOOGLE SHEETS (leitura)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gviz JSONP no navegador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DRE · Gerot/RPM · Km/L · Termômetro…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743200"/>
            <a:ext cx="3749039" cy="1051560"/>
          </a:xfrm>
          <a:prstGeom prst="roundRect">
            <a:avLst/>
          </a:prstGeom>
          <a:solidFill>
            <a:srgbClr val="141B26"/>
          </a:solidFill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3BB33B"/>
                </a:solidFill>
                <a:latin typeface="Montserrat"/>
              </a:rPr>
              <a:t>SUPABASE (auth + FCA)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lozwipo… · Auth do hub + tabela fca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RLS por unidade · chave publishable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931920"/>
            <a:ext cx="3749039" cy="1051560"/>
          </a:xfrm>
          <a:prstGeom prst="roundRect">
            <a:avLst/>
          </a:prstGeom>
          <a:solidFill>
            <a:srgbClr val="141B26"/>
          </a:solidFill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3BB33B"/>
                </a:solidFill>
                <a:latin typeface="Montserrat"/>
              </a:rPr>
              <a:t>SUPABASE CONLOG (Pneus)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ewbzeq… · tabela snapshot (jsonb)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alimentada por GitHub Actions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949440" y="1920240"/>
            <a:ext cx="777240" cy="292608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6949440" y="3108960"/>
            <a:ext cx="777240" cy="292608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6949440" y="4297680"/>
            <a:ext cx="777240" cy="292608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77639" y="3931920"/>
            <a:ext cx="2834640" cy="1463040"/>
          </a:xfrm>
          <a:prstGeom prst="roundRect">
            <a:avLst/>
          </a:prstGeom>
          <a:solidFill>
            <a:srgbClr val="141B26"/>
          </a:solidFill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EAB308"/>
                </a:solidFill>
                <a:latin typeface="Montserrat"/>
              </a:rPr>
              <a:t>GITHUB ACTIONS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pneus-loader.mjs (Node)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cron 2×/dia (09h/21h UTC)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Prolog API → snapshot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credenciais em secrets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578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94A3B8"/>
                </a:solidFill>
                <a:latin typeface="Montserrat"/>
              </a:rPr>
              <a:t>Não existe servidor de aplicação: quem processa é o navegador. Disponibilidade = GitHub Pages + Google + Supabase.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ontserrat"/>
              </a:rPr>
              <a:t>Handoff Técnico — TI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4748B"/>
                </a:solidFill>
                <a:latin typeface="Montserrat"/>
              </a:rPr>
              <a:t>GESTÃO EM MOVIMENTO · BI FROTA</a:t>
            </a:r>
          </a:p>
          <a:p>
            <a:r>
              <a:rPr sz="2600" b="1" i="0">
                <a:solidFill>
                  <a:srgbClr val="F97316"/>
                </a:solidFill>
                <a:latin typeface="Montserrat"/>
              </a:rPr>
              <a:t>Stack e princípios de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HTML + CSS + JavaScript vanilla — CSS e JS inline no index.html de cada painel (autocontido).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Bibliotecas via CDN (sem npm/build):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Chart.js 4.4.0 + chartjs-plugin-datalabels 2.2.0 (gráficos)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@supabase/supabase-js v2 (auth e banco) · Google Fonts Montserrat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1" i="0">
                <a:solidFill>
                  <a:srgbClr val="F97316"/>
                </a:solidFill>
                <a:latin typeface="Montserrat"/>
              </a:rPr>
              <a:t>visao-financeira/ é a REFERÊNCIA de layout — todo painel novo parte dela (ou de _template/).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Padrões obrigatórios (detalhes no CLAUDE.md):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Filtros multi-select (busca + “Todos” + link “só”); seleção vazia = todos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Hero fora de card · KPI-cards · tabelas clean · header sticky com blur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Modo claro = cinza translúcido (nunca branco puro); header permanece escuro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Cores condicionais NA FONTE (verde/vermelho); pills só para scores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Sem TypeScript, sem bundler, sem testes automatizados — validação é no navegador (Pages).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ontserrat"/>
              </a:rPr>
              <a:t>Handoff Técnico — TI  ·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4748B"/>
                </a:solidFill>
                <a:latin typeface="Montserrat"/>
              </a:rPr>
              <a:t>GESTÃO EM MOVIMENTO · BI FROTA</a:t>
            </a:r>
          </a:p>
          <a:p>
            <a:r>
              <a:rPr sz="2600" b="1" i="0">
                <a:solidFill>
                  <a:srgbClr val="F97316"/>
                </a:solidFill>
                <a:latin typeface="Montserrat"/>
              </a:rPr>
              <a:t>Repositório e deploy</a:t>
            </a:r>
          </a:p>
          <a:p>
            <a:r>
              <a:rPr sz="1200" b="0" i="0">
                <a:solidFill>
                  <a:srgbClr val="94A3B8"/>
                </a:solidFill>
                <a:latin typeface="Montserrat"/>
              </a:rPr>
              <a:t>GitHub Pages — push em main publica sozinho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Fluxo: editar index.html → git push origin main → build “pages build and deployment” (~1 min) → no ar.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1" i="0">
                <a:solidFill>
                  <a:srgbClr val="FF6666"/>
                </a:solidFill>
                <a:latin typeface="Montserrat"/>
              </a:rPr>
              <a:t>ATENÇÃO: pushes em sequência rápida CANCELAM o build anterior — confirme o build na aba Actions antes do próximo push.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Valide com Ctrl+Shift+R (cache do navegador segura versão antiga).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Estrutura: cada pasta com index.html é um painel público em /&lt;pasta&gt;/.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Hub e auth: index.html (raiz) · Template: _template/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FCA: fca/ · fca-preenchimento/ · fca-consolidado/ · fca-gerencial/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Performance: termometro/ · mpr/ · scorecard/ · programa-reconhecimento/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Automação: .github/workflows/pneus-loader.yml + scripts/pneus-loader.mjs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Banco: scripts/fca-supabase.sql (DDL + RLS das tabelas fca / fca_profiles)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financeiro-pessoal/ não aparece no hub (acesso direto por URL).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ontserrat"/>
              </a:rPr>
              <a:t>Handoff Técnico — TI  ·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4748B"/>
                </a:solidFill>
                <a:latin typeface="Montserrat"/>
              </a:rPr>
              <a:t>GESTÃO EM MOVIMENTO · BI FROTA</a:t>
            </a:r>
          </a:p>
          <a:p>
            <a:r>
              <a:rPr sz="2600" b="1" i="0">
                <a:solidFill>
                  <a:srgbClr val="F97316"/>
                </a:solidFill>
                <a:latin typeface="Montserrat"/>
              </a:rPr>
              <a:t>Autenticação, perfis e 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Supabase Auth no hub: login e-mail/senha · cadastro com confirmação (SMTP Resend) · esqueci/redefinir senha.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Projeto Supabase: https://lozwipoeacpvplgkrxkq.supabase.co (chave publishable no front — OK com RLS).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Tabela fca_profiles: user_id · unidade (ex.: CGR) · is_admin.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Usuário comum → enxerga e edita SÓ a própria unidade (RLS)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Admin → todas as unidades + rotinas de geração + Gerenciar Acessos (hub)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1" i="0">
                <a:solidFill>
                  <a:srgbClr val="FF6666"/>
                </a:solidFill>
                <a:latin typeface="Montserrat"/>
              </a:rPr>
              <a:t>Regra de ouro: NUNCA usar/commitar service_role no front-end ou no repo (repo é público).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Aprovação de novos usuários: card “Gerenciar Acessos” no cluster Administração (visível só p/ admin).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ontserrat"/>
              </a:rPr>
              <a:t>Handoff Técnico — TI  ·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4748B"/>
                </a:solidFill>
                <a:latin typeface="Montserrat"/>
              </a:rPr>
              <a:t>GESTÃO EM MOVIMENTO · BI FROTA</a:t>
            </a:r>
          </a:p>
          <a:p>
            <a:r>
              <a:rPr sz="2600" b="1" i="0">
                <a:solidFill>
                  <a:srgbClr val="F97316"/>
                </a:solidFill>
                <a:latin typeface="Montserrat"/>
              </a:rPr>
              <a:t>Fontes de dados — Google Sheets</a:t>
            </a:r>
          </a:p>
          <a:p>
            <a:r>
              <a:rPr sz="1200" b="0" i="0">
                <a:solidFill>
                  <a:srgbClr val="94A3B8"/>
                </a:solidFill>
                <a:latin typeface="Montserrat"/>
              </a:rPr>
              <a:t>Leitura no navegador via gviz JSONP (planilhas com acesso por link)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4206240"/>
                <a:gridCol w="320040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97316"/>
                          </a:solidFill>
                          <a:latin typeface="Montserrat"/>
                        </a:rPr>
                        <a:t>Planilha</a:t>
                      </a:r>
                    </a:p>
                  </a:txBody>
                  <a:tcPr marL="73152" marR="54864" marT="27432" marB="27432">
                    <a:solidFill>
                      <a:srgbClr val="1A233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97316"/>
                          </a:solidFill>
                          <a:latin typeface="Montserrat"/>
                        </a:rPr>
                        <a:t>ID</a:t>
                      </a:r>
                    </a:p>
                  </a:txBody>
                  <a:tcPr marL="73152" marR="54864" marT="27432" marB="27432">
                    <a:solidFill>
                      <a:srgbClr val="1A233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97316"/>
                          </a:solidFill>
                          <a:latin typeface="Montserrat"/>
                        </a:rPr>
                        <a:t>Consumida por</a:t>
                      </a:r>
                    </a:p>
                  </a:txBody>
                  <a:tcPr marL="73152" marR="54864" marT="27432" marB="27432">
                    <a:solidFill>
                      <a:srgbClr val="1A233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F1F5F9"/>
                          </a:solidFill>
                          <a:latin typeface="Montserrat"/>
                        </a:rPr>
                        <a:t>Gerot / Consolidado ICs (+ Base RPM, De-Para)</a:t>
                      </a:r>
                    </a:p>
                  </a:txBody>
                  <a:tcPr marL="73152" marR="54864" marT="27432" marB="27432">
                    <a:solidFill>
                      <a:srgbClr val="141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F1F5F9"/>
                          </a:solidFill>
                          <a:latin typeface="Montserrat"/>
                        </a:rPr>
                        <a:t>1xGl1Xrk2sPS9zWghEuecFMNBHwmeLiZ02U-QpO8cDPY</a:t>
                      </a:r>
                    </a:p>
                  </a:txBody>
                  <a:tcPr marL="73152" marR="54864" marT="27432" marB="27432">
                    <a:solidFill>
                      <a:srgbClr val="141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F1F5F9"/>
                          </a:solidFill>
                          <a:latin typeface="Montserrat"/>
                        </a:rPr>
                        <a:t>Gerot, Scorecard, FCA (Gerar RPM)</a:t>
                      </a:r>
                    </a:p>
                  </a:txBody>
                  <a:tcPr marL="73152" marR="54864" marT="27432" marB="27432">
                    <a:solidFill>
                      <a:srgbClr val="141B2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F1F5F9"/>
                          </a:solidFill>
                          <a:latin typeface="Montserrat"/>
                        </a:rPr>
                        <a:t>DRE</a:t>
                      </a:r>
                    </a:p>
                  </a:txBody>
                  <a:tcPr marL="73152" marR="54864" marT="27432" marB="27432">
                    <a:solidFill>
                      <a:srgbClr val="1016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F1F5F9"/>
                          </a:solidFill>
                          <a:latin typeface="Montserrat"/>
                        </a:rPr>
                        <a:t>1qcTy2ppLCGBKKqZCxCYWCTL9kTAuWfHBMyBfWJOyih8</a:t>
                      </a:r>
                    </a:p>
                  </a:txBody>
                  <a:tcPr marL="73152" marR="54864" marT="27432" marB="27432">
                    <a:solidFill>
                      <a:srgbClr val="1016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F1F5F9"/>
                          </a:solidFill>
                          <a:latin typeface="Montserrat"/>
                        </a:rPr>
                        <a:t>Visão Financeira, FCA (Gerar Custos)</a:t>
                      </a:r>
                    </a:p>
                  </a:txBody>
                  <a:tcPr marL="73152" marR="54864" marT="27432" marB="27432">
                    <a:solidFill>
                      <a:srgbClr val="10162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F1F5F9"/>
                          </a:solidFill>
                          <a:latin typeface="Montserrat"/>
                        </a:rPr>
                        <a:t>Km/L e R$/L</a:t>
                      </a:r>
                    </a:p>
                  </a:txBody>
                  <a:tcPr marL="73152" marR="54864" marT="27432" marB="27432">
                    <a:solidFill>
                      <a:srgbClr val="141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F1F5F9"/>
                          </a:solidFill>
                          <a:latin typeface="Montserrat"/>
                        </a:rPr>
                        <a:t>1ZZdvG_RK5cTBLdPl3TWCbNeqw-Y4fTYwWsQV4w-e__A</a:t>
                      </a:r>
                    </a:p>
                  </a:txBody>
                  <a:tcPr marL="73152" marR="54864" marT="27432" marB="27432">
                    <a:solidFill>
                      <a:srgbClr val="141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F1F5F9"/>
                          </a:solidFill>
                          <a:latin typeface="Montserrat"/>
                        </a:rPr>
                        <a:t>Combustível, causas do FCA, Pneus (km/dia)</a:t>
                      </a:r>
                    </a:p>
                  </a:txBody>
                  <a:tcPr marL="73152" marR="54864" marT="27432" marB="27432">
                    <a:solidFill>
                      <a:srgbClr val="141B2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F1F5F9"/>
                          </a:solidFill>
                          <a:latin typeface="Montserrat"/>
                        </a:rPr>
                        <a:t>Dispersão de km</a:t>
                      </a:r>
                    </a:p>
                  </a:txBody>
                  <a:tcPr marL="73152" marR="54864" marT="27432" marB="27432">
                    <a:solidFill>
                      <a:srgbClr val="1016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F1F5F9"/>
                          </a:solidFill>
                          <a:latin typeface="Montserrat"/>
                        </a:rPr>
                        <a:t>1wCoRGsvOgmIvfLW4F9Sxr-5AX9Go-aFlRVjrQ_B2ilM</a:t>
                      </a:r>
                    </a:p>
                  </a:txBody>
                  <a:tcPr marL="73152" marR="54864" marT="27432" marB="27432">
                    <a:solidFill>
                      <a:srgbClr val="1016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F1F5F9"/>
                          </a:solidFill>
                          <a:latin typeface="Montserrat"/>
                        </a:rPr>
                        <a:t>Painel KM, causas do FCA</a:t>
                      </a:r>
                    </a:p>
                  </a:txBody>
                  <a:tcPr marL="73152" marR="54864" marT="27432" marB="27432">
                    <a:solidFill>
                      <a:srgbClr val="10162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F1F5F9"/>
                          </a:solidFill>
                          <a:latin typeface="Montserrat"/>
                        </a:rPr>
                        <a:t>DPO / Demarco / Disponibilidade</a:t>
                      </a:r>
                    </a:p>
                  </a:txBody>
                  <a:tcPr marL="73152" marR="54864" marT="27432" marB="27432">
                    <a:solidFill>
                      <a:srgbClr val="141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F1F5F9"/>
                          </a:solidFill>
                          <a:latin typeface="Montserrat"/>
                        </a:rPr>
                        <a:t>1oW3mss0pXVI6gaDU2z5cDAKvW40LWHCQXpanqSvb12o</a:t>
                      </a:r>
                    </a:p>
                  </a:txBody>
                  <a:tcPr marL="73152" marR="54864" marT="27432" marB="27432">
                    <a:solidFill>
                      <a:srgbClr val="141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F1F5F9"/>
                          </a:solidFill>
                          <a:latin typeface="Montserrat"/>
                        </a:rPr>
                        <a:t>Auditorias, Disponibilidade</a:t>
                      </a:r>
                    </a:p>
                  </a:txBody>
                  <a:tcPr marL="73152" marR="54864" marT="27432" marB="27432">
                    <a:solidFill>
                      <a:srgbClr val="141B2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F1F5F9"/>
                          </a:solidFill>
                          <a:latin typeface="Montserrat"/>
                        </a:rPr>
                        <a:t>Termômetro (abas = tiers + Regras)</a:t>
                      </a:r>
                    </a:p>
                  </a:txBody>
                  <a:tcPr marL="73152" marR="54864" marT="27432" marB="27432">
                    <a:solidFill>
                      <a:srgbClr val="1016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F1F5F9"/>
                          </a:solidFill>
                          <a:latin typeface="Montserrat"/>
                        </a:rPr>
                        <a:t>10LRn3jrXEemqFiFAMbO8_bOLk98xrWTVXVUNDeQqLac</a:t>
                      </a:r>
                    </a:p>
                  </a:txBody>
                  <a:tcPr marL="73152" marR="54864" marT="27432" marB="27432">
                    <a:solidFill>
                      <a:srgbClr val="1016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F1F5F9"/>
                          </a:solidFill>
                          <a:latin typeface="Montserrat"/>
                        </a:rPr>
                        <a:t>Termômetro, MPR</a:t>
                      </a:r>
                    </a:p>
                  </a:txBody>
                  <a:tcPr marL="73152" marR="54864" marT="27432" marB="27432">
                    <a:solidFill>
                      <a:srgbClr val="10162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0749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AB308"/>
                </a:solidFill>
                <a:latin typeface="Montserrat"/>
              </a:rPr>
              <a:t>Regra de performance: planilhas grandes (DRE ~18k linhas) DEVEM ser filtradas no servidor com &amp;tq= (ex.: select * where K='CAMPO GRANDE').</a:t>
            </a:r>
          </a:p>
          <a:p>
            <a:r>
              <a:rPr sz="1200" b="0" i="0">
                <a:solidFill>
                  <a:srgbClr val="94A3B8"/>
                </a:solidFill>
                <a:latin typeface="Montserrat"/>
              </a:rPr>
              <a:t>Sem esse filtro o JSONP estoura no navegador. As planilhas precisam permanecer compartilhadas “qualquer pessoa com o link — leitor”.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ontserrat"/>
              </a:rPr>
              <a:t>Handoff Técnico — TI  ·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4748B"/>
                </a:solidFill>
                <a:latin typeface="Montserrat"/>
              </a:rPr>
              <a:t>GESTÃO EM MOVIMENTO · BI FROTA</a:t>
            </a:r>
          </a:p>
          <a:p>
            <a:r>
              <a:rPr sz="2600" b="1" i="0">
                <a:solidFill>
                  <a:srgbClr val="F97316"/>
                </a:solidFill>
                <a:latin typeface="Montserrat"/>
              </a:rPr>
              <a:t>Fontes de dados — Supabase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1" i="0">
                <a:solidFill>
                  <a:srgbClr val="F97316"/>
                </a:solidFill>
                <a:latin typeface="Montserrat"/>
              </a:rPr>
              <a:t>Tabela fca (projeto lozwipo…) — FONTE DA VERDADE do módulo FCA: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unidade · vigencia (“mai/26”) · origem (Custos|RPM) · fato · projeto · fato_desvio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causa · acao · responsavel · prazo · status · acompanhamento · locked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RLS: unidade vê a sua; admin vê tudo · DDL em scripts/fca-supabase.sql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1" i="0">
                <a:solidFill>
                  <a:srgbClr val="F97316"/>
                </a:solidFill>
                <a:latin typeface="Montserrat"/>
              </a:rPr>
              <a:t>Supabase Conlog (ewbzeq…) — painel Pneus: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tabela snapshot: PK endpoint+branch_id, payload jsonb (vehicles, tires, inspections)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carga: GitHub Actions pneus-loader.yml → scripts/pneus-loader.mjs (Prolog API), 2×/dia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credenciais só em secrets do Actions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Cache no cliente: localStorage (fca_cache_*) com revalidação em 2º plano — pinta na hora, atualiza depois.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ontserrat"/>
              </a:rPr>
              <a:t>Handoff Técnico — TI  ·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4748B"/>
                </a:solidFill>
                <a:latin typeface="Montserrat"/>
              </a:rPr>
              <a:t>GESTÃO EM MOVIMENTO · BI FROTA</a:t>
            </a:r>
          </a:p>
          <a:p>
            <a:r>
              <a:rPr sz="2600" b="1" i="0">
                <a:solidFill>
                  <a:srgbClr val="F97316"/>
                </a:solidFill>
                <a:latin typeface="Montserrat"/>
              </a:rPr>
              <a:t>Módulo FCA — geração dos desvios</a:t>
            </a:r>
          </a:p>
          <a:p>
            <a:r>
              <a:rPr sz="1200" b="0" i="0">
                <a:solidFill>
                  <a:srgbClr val="94A3B8"/>
                </a:solidFill>
                <a:latin typeface="Montserrat"/>
              </a:rPr>
              <a:t>O banco é o dono; planilhas só entram na geração (admin)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5394960" cy="2286000"/>
          </a:xfrm>
          <a:prstGeom prst="roundRect">
            <a:avLst/>
          </a:prstGeom>
          <a:solidFill>
            <a:srgbClr val="141B26"/>
          </a:solidFill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97316"/>
                </a:solidFill>
                <a:latin typeface="Montserrat"/>
              </a:rPr>
              <a:t>GERAR CUSTOS  (?gen=all)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Lê a DRE do último mês fechado (todas as unidades)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Desvio = gasto acima do remunerado (custos são negativos na DRE)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Cria fatos VAZIOS p/ as unidades preencherem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Km/L e R$/L não viram fato — entram como causa do Combustível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Causas automáticas: piores placas, dispersão de km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08760"/>
            <a:ext cx="5394960" cy="2286000"/>
          </a:xfrm>
          <a:prstGeom prst="roundRect">
            <a:avLst/>
          </a:prstGeom>
          <a:solidFill>
            <a:srgbClr val="141B26"/>
          </a:solidFill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97316"/>
                </a:solidFill>
                <a:latin typeface="Montserrat"/>
              </a:rPr>
              <a:t>GERAR RPM  (?sync=rpm)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Lê a aba Base RPM do Gerot POR NOME de coluna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IC/IV com atingimento &lt; 100% viram fato (desvio Meta|Real|Ating)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Unidade→(código, projeto) fixo no código: RPM_UNIT_MAP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Corte FILL_UNTIL=202604: ≤mai/26 veio preenchido da aba;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de jun/26 em diante nasce vazio (preenchimento é no painel)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6908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B33B"/>
                </a:solidFill>
                <a:latin typeface="Montserrat"/>
              </a:rPr>
              <a:t>As duas rotinas são ADITIVAS e IDEMPOTENTES:</a:t>
            </a:r>
          </a:p>
          <a:p>
            <a:r>
              <a:rPr sz="1300" b="0" i="0">
                <a:solidFill>
                  <a:srgbClr val="94A3B8"/>
                </a:solidFill>
                <a:latin typeface="Montserrat"/>
              </a:rPr>
              <a:t>só inserem o que não existe (chave = vigência+origem+projeto+fato). Nunca apagam nem sobrescrevem o que a unidade preencheu. Clicar 2× não duplica.</a:t>
            </a:r>
          </a:p>
          <a:p>
            <a:r>
              <a:rPr sz="1200" b="0" i="0">
                <a:solidFill>
                  <a:srgbClr val="64748B"/>
                </a:solidFill>
                <a:latin typeface="Montserrat"/>
              </a:rPr>
              <a:t>Cutover: o histórico foi importado uma única vez do “FCA Total” (rotina já removida da UI). A planilha FCA Total é LEGADO — não é mais fonte.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ontserrat"/>
              </a:rPr>
              <a:t>Handoff Técnico — TI  ·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4748B"/>
                </a:solidFill>
                <a:latin typeface="Montserrat"/>
              </a:rPr>
              <a:t>GESTÃO EM MOVIMENTO · BI FROTA</a:t>
            </a:r>
          </a:p>
          <a:p>
            <a:r>
              <a:rPr sz="2600" b="1" i="0">
                <a:solidFill>
                  <a:srgbClr val="F97316"/>
                </a:solidFill>
                <a:latin typeface="Montserrat"/>
              </a:rPr>
              <a:t>Módulo FCA — painéis e fluxo de preenchimento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1" i="0">
                <a:solidFill>
                  <a:srgbClr val="F97316"/>
                </a:solidFill>
                <a:latin typeface="Montserrat"/>
              </a:rPr>
              <a:t>fca-preenchimento/ — a unidade trata seus desvios: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preenche Causa · Ação · Responsável · Prazo · Status (+ adicionar ação/causa)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1" i="0">
                <a:solidFill>
                  <a:srgbClr val="FF6666"/>
                </a:solidFill>
                <a:latin typeface="Montserrat"/>
              </a:rPr>
              <a:t>SÓ GRAVA AO CLICAR SALVAR → vai ao Supabase e TRAVA a ação (só o Acompanhamento segue editável)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sair sem salvar = perde o que digitou (não há autosave)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fca-consolidado/ — Admin: edita tudo, exclui, +ação/+causa, botões Gerar Custos / Gerar RPM.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Visões Tabela e Kanban (Não iniciada / Em andamento / Concluída) com drag-and-drop de status.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fca/ (consolidado leitura) e fca-gerencial/ (Aderência ao FCA) leem a MESMA base com as mesmas regras.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Filtros padrão com “só”; vigência abre no mês mais recente; cache localStorage p/ velocidade.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ontserrat"/>
              </a:rPr>
              <a:t>Handoff Técnico — TI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4748B"/>
                </a:solidFill>
                <a:latin typeface="Montserrat"/>
              </a:rPr>
              <a:t>GESTÃO EM MOVIMENTO · BI FROTA</a:t>
            </a:r>
          </a:p>
          <a:p>
            <a:r>
              <a:rPr sz="2600" b="1" i="0">
                <a:solidFill>
                  <a:srgbClr val="F97316"/>
                </a:solidFill>
                <a:latin typeface="Montserrat"/>
              </a:rPr>
              <a:t>Termômetro e MPR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1" i="0">
                <a:solidFill>
                  <a:srgbClr val="F97316"/>
                </a:solidFill>
                <a:latin typeface="Montserrat"/>
              </a:rPr>
              <a:t>Termômetro (termometro/): pontuação de conformidade por unidade/tier.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Fonte: planilha do termômetro — abas = tiers (Transportes T1/T2, WH T1/T2) + aba Regras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Vigência quinzenal (M_Q); FILTRO é por mês e a Q2 REGE (fallback Q1 se o mês não fechou)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Gráfico temporal mostra as 2 quinzenas — Q1 com preenchimento hachurado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1" i="0">
                <a:solidFill>
                  <a:srgbClr val="F97316"/>
                </a:solidFill>
                <a:latin typeface="Montserrat"/>
              </a:rPr>
              <a:t>MPR (mpr/): Monthly Performance Review — matriz indicador × GEO/unidade.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GEO agrupa unidades (expande no “+”) · linhas 2025 (vazio) e 2026 · coluna Plan = meta da regra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Valor do mês = resultado da Q2 · cores = REGRAS do indicador (ex.: Preventiva ≥95 verde/≥90 amarelo)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MTTR/MTBF (regra de quartil) coloridos pela pontuação do termômetro · YTD em pill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1" i="0">
                <a:solidFill>
                  <a:srgbClr val="EAB308"/>
                </a:solidFill>
                <a:latin typeface="Montserrat"/>
              </a:rPr>
              <a:t>Causa/Ação/Responsável/Prazo = campos livres em localStorage (POR NAVEGADOR — não compartilhado)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Evolução natural: migrar os campos do MPR p/ Supabase (mesmo modelo do FCA) p/ compartilhar entre máquinas.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ontserrat"/>
              </a:rPr>
              <a:t>Handoff Técnico — TI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4748B"/>
                </a:solidFill>
                <a:latin typeface="Montserrat"/>
              </a:rPr>
              <a:t>GESTÃO EM MOVIMENTO · BI FROTA</a:t>
            </a:r>
          </a:p>
          <a:p>
            <a:r>
              <a:rPr sz="2600" b="1" i="0">
                <a:solidFill>
                  <a:srgbClr val="F97316"/>
                </a:solidFill>
                <a:latin typeface="Montserrat"/>
              </a:rPr>
              <a:t>Design system (resumo — íntegra no CLAUDE.md)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737360" cy="658368"/>
          </a:xfrm>
          <a:prstGeom prst="roundRect">
            <a:avLst/>
          </a:prstGeom>
          <a:solidFill>
            <a:srgbClr val="0C1017"/>
          </a:solidFill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94A3B8"/>
                </a:solidFill>
                <a:latin typeface="Montserrat"/>
              </a:rPr>
              <a:t>#0C1017 fundo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95728" y="1463040"/>
            <a:ext cx="1737360" cy="658368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0C1017"/>
                </a:solidFill>
                <a:latin typeface="Montserrat"/>
              </a:rPr>
              <a:t>#F97316 primária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42816" y="1463040"/>
            <a:ext cx="1737360" cy="658368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0C1017"/>
                </a:solidFill>
                <a:latin typeface="Montserrat"/>
              </a:rPr>
              <a:t>#38BDF8 secundária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9904" y="1463040"/>
            <a:ext cx="1737360" cy="658368"/>
          </a:xfrm>
          <a:prstGeom prst="roundRect">
            <a:avLst/>
          </a:prstGeom>
          <a:solidFill>
            <a:srgbClr val="3BB33B"/>
          </a:solidFill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0C1017"/>
                </a:solidFill>
                <a:latin typeface="Montserrat"/>
              </a:rPr>
              <a:t>#3BB33B positivo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36992" y="1463040"/>
            <a:ext cx="1737360" cy="658368"/>
          </a:xfrm>
          <a:prstGeom prst="roundRect">
            <a:avLst/>
          </a:prstGeom>
          <a:solidFill>
            <a:srgbClr val="FF6666"/>
          </a:solidFill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0C1017"/>
                </a:solidFill>
                <a:latin typeface="Montserrat"/>
              </a:rPr>
              <a:t>#FF6666 negativo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1463040"/>
            <a:ext cx="173736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0C1017"/>
                </a:solidFill>
                <a:latin typeface="Montserrat"/>
              </a:rPr>
              <a:t>#F1F5F9 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77440"/>
            <a:ext cx="11064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Fonte Montserrat (400–800) em tudo, inclusive Chart.js.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Header sticky com blur; título laranja; filtros na 2ª linha do header.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Hero (nº grande) FORA de card · KPI-cards em grid · tabelas clean sem grade pesada.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Filtros multi-select padrão (busca + Todos + “só”). Todo filtro novo segue esse componente.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Modo claro: .main #F0F0F0 e cards rgba(128,128,128,.14) — cinza, nunca branco; header segue escuro.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Cor condicional na FONTE: custo acima = vermelho; atingimento abaixo = vermelho. Pills só p/ scores.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ontserrat"/>
              </a:rPr>
              <a:t>Handoff Técnico — TI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4748B"/>
                </a:solidFill>
                <a:latin typeface="Montserrat"/>
              </a:rPr>
              <a:t>GESTÃO EM MOVIMENTO · BI FROTA</a:t>
            </a:r>
          </a:p>
          <a:p>
            <a:r>
              <a:rPr sz="2600" b="1" i="0">
                <a:solidFill>
                  <a:srgbClr val="F97316"/>
                </a:solidFill>
                <a:latin typeface="Montserrat"/>
              </a:rPr>
              <a:t>Segurança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39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955279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97316"/>
                          </a:solidFill>
                          <a:latin typeface="Montserrat"/>
                        </a:rPr>
                        <a:t>Item</a:t>
                      </a:r>
                    </a:p>
                  </a:txBody>
                  <a:tcPr marL="73152" marR="54864" marT="27432" marB="27432">
                    <a:solidFill>
                      <a:srgbClr val="1A233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97316"/>
                          </a:solidFill>
                          <a:latin typeface="Montserrat"/>
                        </a:rPr>
                        <a:t>Situação / regra</a:t>
                      </a:r>
                    </a:p>
                  </a:txBody>
                  <a:tcPr marL="73152" marR="54864" marT="27432" marB="27432">
                    <a:solidFill>
                      <a:srgbClr val="1A233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1F5F9"/>
                          </a:solidFill>
                          <a:latin typeface="Montserrat"/>
                        </a:rPr>
                        <a:t>Chave publishable (anon) no front</a:t>
                      </a:r>
                    </a:p>
                  </a:txBody>
                  <a:tcPr marL="73152" marR="54864" marT="27432" marB="27432">
                    <a:solidFill>
                      <a:srgbClr val="141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1F5F9"/>
                          </a:solidFill>
                          <a:latin typeface="Montserrat"/>
                        </a:rPr>
                        <a:t>OK — projetada p/ exposição pública, DESDE QUE o RLS esteja ativo (está, em fca/fca_profiles)</a:t>
                      </a:r>
                    </a:p>
                  </a:txBody>
                  <a:tcPr marL="73152" marR="54864" marT="27432" marB="27432">
                    <a:solidFill>
                      <a:srgbClr val="141B2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1F5F9"/>
                          </a:solidFill>
                          <a:latin typeface="Montserrat"/>
                        </a:rPr>
                        <a:t>service_role</a:t>
                      </a:r>
                    </a:p>
                  </a:txBody>
                  <a:tcPr marL="73152" marR="54864" marT="27432" marB="27432">
                    <a:solidFill>
                      <a:srgbClr val="1016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1F5F9"/>
                          </a:solidFill>
                          <a:latin typeface="Montserrat"/>
                        </a:rPr>
                        <a:t>NUNCA no front nem no repo (público). Só em secrets do GitHub Actions</a:t>
                      </a:r>
                    </a:p>
                  </a:txBody>
                  <a:tcPr marL="73152" marR="54864" marT="27432" marB="27432">
                    <a:solidFill>
                      <a:srgbClr val="10162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1F5F9"/>
                          </a:solidFill>
                          <a:latin typeface="Montserrat"/>
                        </a:rPr>
                        <a:t>Planilhas Google</a:t>
                      </a:r>
                    </a:p>
                  </a:txBody>
                  <a:tcPr marL="73152" marR="54864" marT="27432" marB="27432">
                    <a:solidFill>
                      <a:srgbClr val="141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1F5F9"/>
                          </a:solidFill>
                          <a:latin typeface="Montserrat"/>
                        </a:rPr>
                        <a:t>Compartilhadas por link (leitura). Não colocar dado sensível nelas</a:t>
                      </a:r>
                    </a:p>
                  </a:txBody>
                  <a:tcPr marL="73152" marR="54864" marT="27432" marB="27432">
                    <a:solidFill>
                      <a:srgbClr val="141B2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1F5F9"/>
                          </a:solidFill>
                          <a:latin typeface="Montserrat"/>
                        </a:rPr>
                        <a:t>Repo público</a:t>
                      </a:r>
                    </a:p>
                  </a:txBody>
                  <a:tcPr marL="73152" marR="54864" marT="27432" marB="27432">
                    <a:solidFill>
                      <a:srgbClr val="1016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1F5F9"/>
                          </a:solidFill>
                          <a:latin typeface="Montserrat"/>
                        </a:rPr>
                        <a:t>Necessário p/ Pages/Actions grátis — nunca commitar tokens/credenciais</a:t>
                      </a:r>
                    </a:p>
                  </a:txBody>
                  <a:tcPr marL="73152" marR="54864" marT="27432" marB="27432">
                    <a:solidFill>
                      <a:srgbClr val="10162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1F5F9"/>
                          </a:solidFill>
                          <a:latin typeface="Montserrat"/>
                        </a:rPr>
                        <a:t>RLS</a:t>
                      </a:r>
                    </a:p>
                  </a:txBody>
                  <a:tcPr marL="73152" marR="54864" marT="27432" marB="27432">
                    <a:solidFill>
                      <a:srgbClr val="141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1F5F9"/>
                          </a:solidFill>
                          <a:latin typeface="Montserrat"/>
                        </a:rPr>
                        <a:t>fca: unidade só vê/edita a sua; admin (fca_profiles.is_admin) vê tudo</a:t>
                      </a:r>
                    </a:p>
                  </a:txBody>
                  <a:tcPr marL="73152" marR="54864" marT="27432" marB="27432">
                    <a:solidFill>
                      <a:srgbClr val="141B2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1F5F9"/>
                          </a:solidFill>
                          <a:latin typeface="Montserrat"/>
                        </a:rPr>
                        <a:t>PENDÊNCIA</a:t>
                      </a:r>
                    </a:p>
                  </a:txBody>
                  <a:tcPr marL="73152" marR="54864" marT="27432" marB="27432">
                    <a:solidFill>
                      <a:srgbClr val="1016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1F5F9"/>
                          </a:solidFill>
                          <a:latin typeface="Montserrat"/>
                        </a:rPr>
                        <a:t>Rotacionar a service_role do Supabase Conlog que já apareceu em prints</a:t>
                      </a:r>
                    </a:p>
                  </a:txBody>
                  <a:tcPr marL="73152" marR="54864" marT="27432" marB="27432">
                    <a:solidFill>
                      <a:srgbClr val="10162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ontserrat"/>
              </a:rPr>
              <a:t>Handoff Técnico — TI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4748B"/>
                </a:solidFill>
                <a:latin typeface="Montserrat"/>
              </a:rPr>
              <a:t>GESTÃO EM MOVIMENTO · BI FROTA</a:t>
            </a:r>
          </a:p>
          <a:p>
            <a:r>
              <a:rPr sz="2600" b="1" i="0">
                <a:solidFill>
                  <a:srgbClr val="F97316"/>
                </a:solidFill>
                <a:latin typeface="Montserrat"/>
              </a:rPr>
              <a:t>Manutenção — receitas rápidas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1" i="0">
                <a:solidFill>
                  <a:srgbClr val="F97316"/>
                </a:solidFill>
                <a:latin typeface="Montserrat"/>
              </a:rPr>
              <a:t>Criar um painel novo: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copiar visao-financeira/index.html (ou _template/) p/ nova pasta · ajustar título/fonte de dados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adicionar o card no hub (index.html raiz, cluster certo) · push em main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Virada de mês (FCA): admin clica Gerar Custos + Gerar RPM. Aditivo — sem risco de duplicar.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Novo usuário: cadastro no hub → admin aprova em Gerenciar Acessos → definir unidade/is_admin.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Nova unidade na RPM: incluir no RPM_UNIT_MAP (fca-preenchimento/index.html) e no DEPARA.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Painel Pneus sem dados: checar execução do workflow “Pneus Loader (Conlog)” na aba Actions.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Site “não atualizou”: conferir se o build do Pages concluiu + Ctrl+Shift+R.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Antes de mexer no visual: ler CLAUDE.md (paleta, componentes, mobile).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ontserrat"/>
              </a:rPr>
              <a:t>Handoff Técnico — TI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4748B"/>
                </a:solidFill>
                <a:latin typeface="Montserrat"/>
              </a:rPr>
              <a:t>GESTÃO EM MOVIMENTO · BI FROTA</a:t>
            </a:r>
          </a:p>
          <a:p>
            <a:r>
              <a:rPr sz="2600" b="1" i="0">
                <a:solidFill>
                  <a:srgbClr val="F97316"/>
                </a:solidFill>
                <a:latin typeface="Montserrat"/>
              </a:rPr>
              <a:t>Links e rotina operacional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Produção: https://fortesindicadores-byte.github.io/gestao-em-movimento/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Repositório: github.com/fortesindicadores-byte/gestao-em-movimento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Docs no repo: DOCUMENTACAO-TI.md (completo) · CLAUDE.md · PAINEIS.md · HANDOFF.md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Supabase (auth/FCA): lozwipoeacpvplgkrxkq.supabase.co · Conlog (Pneus): ewbzeqsneeylwkxtcpme.supabase.co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1" i="0">
                <a:solidFill>
                  <a:srgbClr val="F97316"/>
                </a:solidFill>
                <a:latin typeface="Montserrat"/>
              </a:rPr>
              <a:t>Rotina mensal em 5 passos: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1. Mês fecha → planilhas de origem atualizadas (DRE, Base RPM, termômetro)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2. Admin: FCA · Admin → Gerar Custos + Gerar RPM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3. Unidades: FCA · Preenchimento → tratar desvios → SALVAR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4. Gestão: FCA consolidado · Aderência · Termômetro · MPR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5. Pneus atualiza sozinho (Actions 2×/dia); demais painéis leem as fontes ao abrir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ontserrat"/>
              </a:rPr>
              <a:t>Handoff Técnico — TI  ·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